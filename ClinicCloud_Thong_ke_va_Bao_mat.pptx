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ịch bệnh" id="{5bde9ce8-3b9d-ead3-3eed-ca5b1000223c}">
          <p14:sldIdLst>
            <p14:sldId id="256"/>
          </p14:sldIdLst>
        </p14:section>
        <p14:section name="Bảo mật" id="{c9de95c8-7cb4-b56c-ae59-632177fe47b1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 bệnh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766E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B8C0CC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B8C0CC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B8C0CC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F2A3D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F2A3D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F2A3D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F2A3D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Sốt xuất huyết</c:v>
                </c:pt>
                <c:pt idx="1">
                  <c:v>Cúm mùa</c:v>
                </c:pt>
                <c:pt idx="2">
                  <c:v>Tay chân miệng</c:v>
                </c:pt>
                <c:pt idx="3">
                  <c:v>Khác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350</c:v>
                </c:pt>
                <c:pt idx="1">
                  <c:v>300</c:v>
                </c:pt>
                <c:pt idx="2">
                  <c:v>158</c:v>
                </c:pt>
                <c:pt idx="3">
                  <c:v>192</c:v>
                </c:pt>
              </c:numCache>
            </c:numRef>
          </c:val>
        </c:ser>
        <c:firstSliceAng val="0"/>
        <c:holeSize val="6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0F2A3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Số liệu lấy từ sheet Thống kê dịch bệnh (dữ liệu minh họa).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C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F2A3D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566"/>
                </a:solidFill>
              </a:rPr>
              <a:t>Clinic-Cloud  |  Bệnh án điện tử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D55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D55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A3D"/>
                </a:solidFill>
              </a:rPr>
              <a:t>Sốt xuất huyết chiếm 35% số ca, nhiều nhất trong các chẩn đoán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80160"/>
          <a:ext cx="49377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Điểm nhấn"/>
          <p:cNvSpPr/>
          <p:nvPr/>
        </p:nvSpPr>
        <p:spPr>
          <a:xfrm>
            <a:off x="5943600" y="173736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035040" y="18745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766E"/>
                </a:solidFill>
              </a:rPr>
              <a:t>350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2743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2A3D"/>
                </a:solidFill>
              </a:rPr>
              <a:t>ca sốt xuất huyết trên tổng 1.000 hồ sơ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D55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A3D"/>
                </a:solidFill>
              </a:rPr>
              <a:t>4 lớp bảo mật bảo vệ hồ sơ bệnh nhân</a:t>
            </a:r>
            <a:endParaRPr lang="en-US" sz="2800" dirty="0"/>
          </a:p>
        </p:txBody>
      </p:sp>
      <p:sp>
        <p:nvSpPr>
          <p:cNvPr id="3" name="Lớp 1"/>
          <p:cNvSpPr/>
          <p:nvPr/>
        </p:nvSpPr>
        <p:spPr>
          <a:xfrm>
            <a:off x="457200" y="1554480"/>
            <a:ext cx="1920240" cy="2468880"/>
          </a:xfrm>
          <a:prstGeom prst="roundRect">
            <a:avLst>
              <a:gd name="adj" fmla="val 4762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173736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68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3D"/>
                </a:solidFill>
              </a:rPr>
              <a:t>Xác thực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175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5566"/>
                </a:solidFill>
              </a:rPr>
              <a:t>Mỗi người một tài khoản riêng</a:t>
            </a:r>
            <a:endParaRPr lang="en-US" sz="1400" dirty="0"/>
          </a:p>
        </p:txBody>
      </p:sp>
      <p:sp>
        <p:nvSpPr>
          <p:cNvPr id="8" name="Lớp 2"/>
          <p:cNvSpPr/>
          <p:nvPr/>
        </p:nvSpPr>
        <p:spPr>
          <a:xfrm>
            <a:off x="2560320" y="1554480"/>
            <a:ext cx="1920240" cy="2468880"/>
          </a:xfrm>
          <a:prstGeom prst="roundRect">
            <a:avLst>
              <a:gd name="adj" fmla="val 4762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73736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4612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2468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3D"/>
                </a:solidFill>
              </a:rPr>
              <a:t>Phân quyền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30175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5566"/>
                </a:solidFill>
              </a:rPr>
              <a:t>Chỉ xem dữ liệu đúng vai trò</a:t>
            </a:r>
            <a:endParaRPr lang="en-US" sz="1400" dirty="0"/>
          </a:p>
        </p:txBody>
      </p:sp>
      <p:sp>
        <p:nvSpPr>
          <p:cNvPr id="13" name="Lớp 3"/>
          <p:cNvSpPr/>
          <p:nvPr/>
        </p:nvSpPr>
        <p:spPr>
          <a:xfrm>
            <a:off x="4663440" y="1554480"/>
            <a:ext cx="1920240" cy="2468880"/>
          </a:xfrm>
          <a:prstGeom prst="roundRect">
            <a:avLst>
              <a:gd name="adj" fmla="val 4762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49240" y="173736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492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2468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3D"/>
                </a:solidFill>
              </a:rPr>
              <a:t>Mã hóa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30175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5566"/>
                </a:solidFill>
              </a:rPr>
              <a:t>Khi lưu trữ và khi truyền</a:t>
            </a:r>
            <a:endParaRPr lang="en-US" sz="1400" dirty="0"/>
          </a:p>
        </p:txBody>
      </p:sp>
      <p:sp>
        <p:nvSpPr>
          <p:cNvPr id="18" name="Lớp 4"/>
          <p:cNvSpPr/>
          <p:nvPr/>
        </p:nvSpPr>
        <p:spPr>
          <a:xfrm>
            <a:off x="6766560" y="1554480"/>
            <a:ext cx="1920240" cy="2468880"/>
          </a:xfrm>
          <a:prstGeom prst="roundRect">
            <a:avLst>
              <a:gd name="adj" fmla="val 4762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52360" y="173736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5236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2468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3D"/>
                </a:solidFill>
              </a:rPr>
              <a:t>Nhật ký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30175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5566"/>
                </a:solidFill>
              </a:rPr>
              <a:t>Ghi lại mọi lần xem, sửa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D55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inic-Cloud">
  <a:themeElements>
    <a:clrScheme name="Clinic-Cloud">
      <a:dk1>
        <a:srgbClr val="0F2A3D"/>
      </a:dk1>
      <a:lt1>
        <a:srgbClr val="FFFFFF"/>
      </a:lt1>
      <a:dk2>
        <a:srgbClr val="3D5566"/>
      </a:dk2>
      <a:lt2>
        <a:srgbClr val="EEF4F3"/>
      </a:lt2>
      <a:accent1>
        <a:srgbClr val="0F766E"/>
      </a:accent1>
      <a:accent2>
        <a:srgbClr val="B8C0CC"/>
      </a:accent2>
      <a:accent3>
        <a:srgbClr val="5B6B7C"/>
      </a:accent3>
      <a:accent4>
        <a:srgbClr val="7FB8B1"/>
      </a:accent4>
      <a:accent5>
        <a:srgbClr val="D5DBE3"/>
      </a:accent5>
      <a:accent6>
        <a:srgbClr val="0F2A3D"/>
      </a:accent6>
      <a:hlink>
        <a:srgbClr val="0F766E"/>
      </a:hlink>
      <a:folHlink>
        <a:srgbClr val="5B6B7C"/>
      </a:folHlink>
    </a:clrScheme>
    <a:fontScheme name="Clinic-Clou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2026-10-26T23:12:56Z</dcterms:created>
  <dcterms:modified xsi:type="dcterms:W3CDTF">2026-10-26T23:12:56Z</dcterms:modified>
</cp:coreProperties>
</file>